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-1276" y="-4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video" Target="file:///C:\Users\admin\Downloads\ardruino.mp4" TargetMode="Externa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1920240" cy="192024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0080"/>
            <a:ext cx="1188720" cy="11887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" y="2560320"/>
            <a:ext cx="1828800" cy="182880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91440"/>
            <a:ext cx="274320" cy="27432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0" y="228600"/>
            <a:ext cx="411480" cy="41148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32520" y="0"/>
            <a:ext cx="256032" cy="25603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594360"/>
            <a:ext cx="256032" cy="25603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0" y="457200"/>
            <a:ext cx="256032" cy="256032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8229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PROJECT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1381226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by </a:t>
            </a:r>
            <a:r>
              <a:rPr lang="en-US" i="1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GROUP 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18509" y="1607419"/>
            <a:ext cx="3951171" cy="32389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0C8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28346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[ Group illustration ]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4918509" y="1607419"/>
            <a:ext cx="3951171" cy="32389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xit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trips(down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3840" y="-256674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GROUP MEMBERS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" y="662940"/>
            <a:ext cx="8503920" cy="441198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4023360"/>
            <a:ext cx="822960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1226" y="2451234"/>
            <a:ext cx="1395663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Opoku</a:t>
            </a:r>
            <a:r>
              <a:rPr lang="en-GB" sz="1600" dirty="0" smtClean="0">
                <a:solidFill>
                  <a:schemeClr val="bg1"/>
                </a:solidFill>
              </a:rPr>
              <a:t> Otis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29564" y="662940"/>
            <a:ext cx="789272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32120" y="3749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Wiafe</a:t>
            </a:r>
            <a:r>
              <a:rPr lang="en-GB" sz="1600" dirty="0" smtClean="0">
                <a:solidFill>
                  <a:schemeClr val="bg1"/>
                </a:solidFill>
              </a:rPr>
              <a:t> </a:t>
            </a:r>
            <a:r>
              <a:rPr lang="en-GB" sz="1600" dirty="0" err="1" smtClean="0">
                <a:solidFill>
                  <a:schemeClr val="bg1"/>
                </a:solidFill>
              </a:rPr>
              <a:t>Akenten</a:t>
            </a:r>
            <a:r>
              <a:rPr lang="en-GB" sz="1600" dirty="0" smtClean="0">
                <a:solidFill>
                  <a:schemeClr val="bg1"/>
                </a:solidFill>
              </a:rPr>
              <a:t> Kelvin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5642" y="640080"/>
            <a:ext cx="745958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23396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16328" y="2988243"/>
            <a:ext cx="952901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" y="4023360"/>
            <a:ext cx="822960" cy="8229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685800" cy="68580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16" name="Shape 4"/>
          <p:cNvSpPr/>
          <p:nvPr/>
        </p:nvSpPr>
        <p:spPr>
          <a:xfrm>
            <a:off x="1720515" y="1722120"/>
            <a:ext cx="822960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17" name="Shape 4"/>
          <p:cNvSpPr/>
          <p:nvPr/>
        </p:nvSpPr>
        <p:spPr>
          <a:xfrm>
            <a:off x="3124200" y="1801929"/>
            <a:ext cx="822960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18" name="Shape 4"/>
          <p:cNvSpPr/>
          <p:nvPr/>
        </p:nvSpPr>
        <p:spPr>
          <a:xfrm>
            <a:off x="4663440" y="2988243"/>
            <a:ext cx="822960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19" name="Shape 4"/>
          <p:cNvSpPr/>
          <p:nvPr/>
        </p:nvSpPr>
        <p:spPr>
          <a:xfrm>
            <a:off x="1828800" y="3080886"/>
            <a:ext cx="822960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20" name="Shape 4"/>
          <p:cNvSpPr/>
          <p:nvPr/>
        </p:nvSpPr>
        <p:spPr>
          <a:xfrm>
            <a:off x="3200400" y="2928486"/>
            <a:ext cx="822960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21" name="Shape 4"/>
          <p:cNvSpPr/>
          <p:nvPr/>
        </p:nvSpPr>
        <p:spPr>
          <a:xfrm>
            <a:off x="4709160" y="1826394"/>
            <a:ext cx="822960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22" name="Shape 4"/>
          <p:cNvSpPr/>
          <p:nvPr/>
        </p:nvSpPr>
        <p:spPr>
          <a:xfrm>
            <a:off x="6177013" y="1801929"/>
            <a:ext cx="822960" cy="729114"/>
          </a:xfrm>
          <a:prstGeom prst="ellipse">
            <a:avLst/>
          </a:prstGeom>
          <a:solidFill>
            <a:srgbClr val="F4C5B5"/>
          </a:solidFill>
          <a:ln w="12700">
            <a:solidFill>
              <a:srgbClr val="F4C5B5"/>
            </a:solidFill>
            <a:prstDash val="solid"/>
          </a:ln>
        </p:spPr>
      </p:sp>
      <p:sp>
        <p:nvSpPr>
          <p:cNvPr id="27" name="Text 7"/>
          <p:cNvSpPr/>
          <p:nvPr/>
        </p:nvSpPr>
        <p:spPr>
          <a:xfrm>
            <a:off x="3475522" y="4617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Qeuce</a:t>
            </a:r>
            <a:r>
              <a:rPr lang="en-GB" sz="1600" dirty="0" smtClean="0">
                <a:solidFill>
                  <a:schemeClr val="bg1"/>
                </a:solidFill>
              </a:rPr>
              <a:t> John Herbert</a:t>
            </a:r>
            <a:endParaRPr lang="en-US" sz="1600" dirty="0"/>
          </a:p>
        </p:txBody>
      </p:sp>
      <p:sp>
        <p:nvSpPr>
          <p:cNvPr id="28" name="Text 7"/>
          <p:cNvSpPr/>
          <p:nvPr/>
        </p:nvSpPr>
        <p:spPr>
          <a:xfrm>
            <a:off x="4084320" y="2531043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Tuffour</a:t>
            </a:r>
            <a:r>
              <a:rPr lang="en-GB" sz="1600" dirty="0" smtClean="0">
                <a:solidFill>
                  <a:schemeClr val="bg1"/>
                </a:solidFill>
              </a:rPr>
              <a:t> Nana </a:t>
            </a:r>
            <a:r>
              <a:rPr lang="en-GB" sz="1600" dirty="0" err="1" smtClean="0">
                <a:solidFill>
                  <a:schemeClr val="bg1"/>
                </a:solidFill>
              </a:rPr>
              <a:t>Opoku</a:t>
            </a:r>
            <a:endParaRPr lang="en-US" sz="1600" dirty="0"/>
          </a:p>
        </p:txBody>
      </p:sp>
      <p:sp>
        <p:nvSpPr>
          <p:cNvPr id="29" name="Text 7"/>
          <p:cNvSpPr/>
          <p:nvPr/>
        </p:nvSpPr>
        <p:spPr>
          <a:xfrm>
            <a:off x="2776889" y="3657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Quarshie</a:t>
            </a:r>
            <a:r>
              <a:rPr lang="en-GB" sz="1600" dirty="0" smtClean="0">
                <a:solidFill>
                  <a:schemeClr val="bg1"/>
                </a:solidFill>
              </a:rPr>
              <a:t> William</a:t>
            </a:r>
            <a:endParaRPr lang="en-US" sz="1600" dirty="0"/>
          </a:p>
        </p:txBody>
      </p:sp>
      <p:sp>
        <p:nvSpPr>
          <p:cNvPr id="30" name="Text 7"/>
          <p:cNvSpPr/>
          <p:nvPr/>
        </p:nvSpPr>
        <p:spPr>
          <a:xfrm>
            <a:off x="1256097" y="3794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Quansah</a:t>
            </a:r>
            <a:r>
              <a:rPr lang="en-GB" sz="1600" dirty="0" smtClean="0">
                <a:solidFill>
                  <a:schemeClr val="bg1"/>
                </a:solidFill>
              </a:rPr>
              <a:t> Karen </a:t>
            </a:r>
            <a:r>
              <a:rPr lang="en-GB" sz="1600" dirty="0" err="1" smtClean="0">
                <a:solidFill>
                  <a:schemeClr val="bg1"/>
                </a:solidFill>
              </a:rPr>
              <a:t>Amankwah</a:t>
            </a:r>
            <a:endParaRPr lang="en-US" sz="1600" dirty="0"/>
          </a:p>
        </p:txBody>
      </p:sp>
      <p:sp>
        <p:nvSpPr>
          <p:cNvPr id="31" name="Text 7"/>
          <p:cNvSpPr/>
          <p:nvPr/>
        </p:nvSpPr>
        <p:spPr>
          <a:xfrm>
            <a:off x="2651760" y="2531043"/>
            <a:ext cx="17838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Tsegah</a:t>
            </a:r>
            <a:r>
              <a:rPr lang="en-GB" sz="1600" dirty="0" smtClean="0">
                <a:solidFill>
                  <a:schemeClr val="bg1"/>
                </a:solidFill>
              </a:rPr>
              <a:t> Jemima Dorothy</a:t>
            </a:r>
            <a:endParaRPr lang="en-US" sz="1600" dirty="0"/>
          </a:p>
        </p:txBody>
      </p:sp>
      <p:sp>
        <p:nvSpPr>
          <p:cNvPr id="32" name="Text 7"/>
          <p:cNvSpPr/>
          <p:nvPr/>
        </p:nvSpPr>
        <p:spPr>
          <a:xfrm>
            <a:off x="4174957" y="3717357"/>
            <a:ext cx="17413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Quaye</a:t>
            </a:r>
            <a:r>
              <a:rPr lang="en-GB" sz="1600" dirty="0" smtClean="0">
                <a:solidFill>
                  <a:schemeClr val="bg1"/>
                </a:solidFill>
              </a:rPr>
              <a:t> </a:t>
            </a:r>
            <a:r>
              <a:rPr lang="en-GB" sz="1600" dirty="0" err="1" smtClean="0">
                <a:solidFill>
                  <a:schemeClr val="bg1"/>
                </a:solidFill>
              </a:rPr>
              <a:t>Sadick</a:t>
            </a:r>
            <a:r>
              <a:rPr lang="en-GB" sz="1600" dirty="0" smtClean="0">
                <a:solidFill>
                  <a:schemeClr val="bg1"/>
                </a:solidFill>
              </a:rPr>
              <a:t> Abbey</a:t>
            </a:r>
            <a:endParaRPr lang="en-US" sz="1600" dirty="0"/>
          </a:p>
        </p:txBody>
      </p:sp>
      <p:sp>
        <p:nvSpPr>
          <p:cNvPr id="33" name="Text 7"/>
          <p:cNvSpPr/>
          <p:nvPr/>
        </p:nvSpPr>
        <p:spPr>
          <a:xfrm>
            <a:off x="5867400" y="247128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Tulasi</a:t>
            </a:r>
            <a:r>
              <a:rPr lang="en-GB" sz="1600" dirty="0" smtClean="0">
                <a:solidFill>
                  <a:schemeClr val="bg1"/>
                </a:solidFill>
              </a:rPr>
              <a:t> Stanley </a:t>
            </a:r>
            <a:r>
              <a:rPr lang="en-GB" sz="1600" dirty="0" err="1" smtClean="0">
                <a:solidFill>
                  <a:schemeClr val="bg1"/>
                </a:solidFill>
              </a:rPr>
              <a:t>Selasi</a:t>
            </a:r>
            <a:endParaRPr lang="en-US" sz="1600" dirty="0"/>
          </a:p>
        </p:txBody>
      </p:sp>
      <p:sp>
        <p:nvSpPr>
          <p:cNvPr id="34" name="Text 7"/>
          <p:cNvSpPr/>
          <p:nvPr/>
        </p:nvSpPr>
        <p:spPr>
          <a:xfrm>
            <a:off x="3947160" y="136919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Opoku</a:t>
            </a:r>
            <a:r>
              <a:rPr lang="en-GB" sz="1600" dirty="0" smtClean="0">
                <a:solidFill>
                  <a:schemeClr val="bg1"/>
                </a:solidFill>
              </a:rPr>
              <a:t> George </a:t>
            </a:r>
            <a:r>
              <a:rPr lang="en-GB" sz="1600" dirty="0" err="1" smtClean="0">
                <a:solidFill>
                  <a:schemeClr val="bg1"/>
                </a:solidFill>
              </a:rPr>
              <a:t>Asafo-Adjei</a:t>
            </a:r>
            <a:endParaRPr lang="en-US" sz="1600" dirty="0"/>
          </a:p>
        </p:txBody>
      </p:sp>
      <p:sp>
        <p:nvSpPr>
          <p:cNvPr id="35" name="Text 7"/>
          <p:cNvSpPr/>
          <p:nvPr/>
        </p:nvSpPr>
        <p:spPr>
          <a:xfrm>
            <a:off x="2164080" y="1344729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GB" sz="1600" dirty="0" err="1" smtClean="0">
                <a:solidFill>
                  <a:schemeClr val="bg1"/>
                </a:solidFill>
              </a:rPr>
              <a:t>Opare</a:t>
            </a:r>
            <a:r>
              <a:rPr lang="en-GB" sz="1600" dirty="0" smtClean="0">
                <a:solidFill>
                  <a:schemeClr val="bg1"/>
                </a:solidFill>
              </a:rPr>
              <a:t> </a:t>
            </a:r>
            <a:r>
              <a:rPr lang="en-GB" sz="1600" dirty="0" err="1" smtClean="0">
                <a:solidFill>
                  <a:schemeClr val="bg1"/>
                </a:solidFill>
              </a:rPr>
              <a:t>Kwame</a:t>
            </a:r>
            <a:r>
              <a:rPr lang="en-GB" sz="1600" dirty="0" smtClean="0">
                <a:solidFill>
                  <a:schemeClr val="bg1"/>
                </a:solidFill>
              </a:rPr>
              <a:t> Aaron</a:t>
            </a:r>
            <a:endParaRPr lang="en-US" sz="1600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731520" cy="73152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"/>
            <a:ext cx="594360" cy="5943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1: TITLE &amp; TEAM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</a:t>
            </a:r>
            <a:r>
              <a:rPr lang="en-US" sz="20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Title: Smart Parking System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Lab/Skill Area Used (Arduino, Web Development, </a:t>
            </a:r>
            <a:r>
              <a:rPr lang="en-US" sz="20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 of </a:t>
            </a:r>
            <a:r>
              <a:rPr lang="en-US" sz="20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Presentation: 31</a:t>
            </a:r>
            <a:r>
              <a:rPr lang="en-US" sz="2000" baseline="300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</a:t>
            </a:r>
            <a:r>
              <a:rPr lang="en-US" sz="20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March, 2026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" y="3931920"/>
            <a:ext cx="822960" cy="8229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4069080"/>
            <a:ext cx="685800" cy="68580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731520" cy="73152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"/>
            <a:ext cx="594360" cy="5943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5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2: INTRODUCTION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6858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endParaRPr lang="en-GB" sz="2800" dirty="0" smtClean="0"/>
          </a:p>
          <a:p>
            <a:pPr>
              <a:buNone/>
              <a:defRPr sz="2000"/>
            </a:pPr>
            <a:r>
              <a:rPr lang="en-GB" sz="2800" dirty="0" smtClean="0"/>
              <a:t>    </a:t>
            </a: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endParaRPr lang="en-US" sz="2000" dirty="0" smtClean="0"/>
          </a:p>
          <a:p>
            <a:pPr marL="342900" indent="-342900">
              <a:spcAft>
                <a:spcPts val="1000"/>
              </a:spcAft>
              <a:buSzPct val="100000"/>
            </a:pP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60168" y="2310062"/>
            <a:ext cx="2709512" cy="226193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D0C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3017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99999"/>
                </a:solidFill>
              </a:rPr>
              <a:t>[ Illustration ]</a:t>
            </a:r>
            <a:endParaRPr lang="en-US" sz="900" dirty="0"/>
          </a:p>
        </p:txBody>
      </p:sp>
      <p:sp>
        <p:nvSpPr>
          <p:cNvPr id="10" name="Rectangle 9"/>
          <p:cNvSpPr/>
          <p:nvPr/>
        </p:nvSpPr>
        <p:spPr>
          <a:xfrm>
            <a:off x="777240" y="1143000"/>
            <a:ext cx="5681312" cy="219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GB" sz="2400" dirty="0" smtClean="0"/>
              <a:t>Problem: Difficulty finding parking spaces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US" sz="2400" dirty="0" smtClean="0">
                <a:solidFill>
                  <a:srgbClr val="1A1A1A"/>
                </a:solidFill>
                <a:latin typeface="Georgia" pitchFamily="34" charset="0"/>
              </a:rPr>
              <a:t> </a:t>
            </a:r>
            <a:r>
              <a:rPr lang="en-GB" sz="2400" dirty="0" smtClean="0"/>
              <a:t>CE Role/Importance: Embedded systems + automation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•"/>
            </a:pPr>
            <a:r>
              <a:rPr lang="en-GB" sz="2400" dirty="0" smtClean="0"/>
              <a:t>Relevant context/statistics:20–30% of driving time wasted on parking 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0168" y="2310062"/>
            <a:ext cx="2709512" cy="226193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731520" cy="73152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"/>
            <a:ext cx="594360" cy="5943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3: OBJECTIVES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160520" cy="34747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371600"/>
            <a:ext cx="457200" cy="45720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3898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Goal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FontTx/>
              <a:buChar char="-"/>
            </a:pPr>
            <a:r>
              <a:rPr lang="en-GB" sz="1600" dirty="0" smtClean="0">
                <a:solidFill>
                  <a:schemeClr val="bg1"/>
                </a:solidFill>
              </a:rPr>
              <a:t> Design smart parking assist system  infrastructure</a:t>
            </a:r>
          </a:p>
          <a:p>
            <a:pPr>
              <a:buFontTx/>
              <a:buChar char="-"/>
            </a:pPr>
            <a:endParaRPr lang="en-GB" sz="1600" dirty="0" smtClean="0">
              <a:solidFill>
                <a:schemeClr val="bg1"/>
              </a:solidFill>
            </a:endParaRPr>
          </a:p>
          <a:p>
            <a:r>
              <a:rPr lang="en-GB" sz="1600" dirty="0" smtClean="0">
                <a:solidFill>
                  <a:schemeClr val="bg1"/>
                </a:solidFill>
              </a:rPr>
              <a:t>- Improve safety and efficiency</a:t>
            </a:r>
            <a:endParaRPr lang="en-US" sz="1500" dirty="0" smtClean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1280160"/>
            <a:ext cx="4160520" cy="347472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3898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</a:t>
            </a: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FontTx/>
              <a:buChar char="-"/>
            </a:pPr>
            <a:r>
              <a:rPr lang="en-GB" sz="1600" dirty="0" smtClean="0">
                <a:solidFill>
                  <a:schemeClr val="bg1"/>
                </a:solidFill>
              </a:rPr>
              <a:t> Integrate sensors + web interface</a:t>
            </a:r>
          </a:p>
          <a:p>
            <a:pPr>
              <a:buFontTx/>
              <a:buChar char="-"/>
            </a:pPr>
            <a:endParaRPr lang="en-GB" sz="1600" dirty="0" smtClean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GB" sz="1600" dirty="0" smtClean="0">
                <a:solidFill>
                  <a:schemeClr val="bg1"/>
                </a:solidFill>
              </a:rPr>
              <a:t> Support Smart city</a:t>
            </a:r>
            <a:endParaRPr lang="en-US" sz="1500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731520" cy="73152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"/>
            <a:ext cx="594360" cy="5943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4: PROBLEM STATEMENT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FontTx/>
              <a:buChar char="•"/>
            </a:pPr>
            <a:r>
              <a:rPr lang="en-US" sz="2000" dirty="0" smtClean="0">
                <a:solidFill>
                  <a:srgbClr val="1A1A1A"/>
                </a:solidFill>
                <a:latin typeface="Georgia" pitchFamily="34" charset="0"/>
              </a:rPr>
              <a:t>Problem Solving</a:t>
            </a:r>
            <a:r>
              <a:rPr lang="en-US" sz="2000" dirty="0" smtClean="0">
                <a:solidFill>
                  <a:srgbClr val="1A1A1A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Drivers struggle to find parking</a:t>
            </a:r>
          </a:p>
          <a:p>
            <a:pPr marL="342900" indent="-342900">
              <a:spcAft>
                <a:spcPts val="1800"/>
              </a:spcAft>
              <a:buSzPct val="100000"/>
              <a:buFontTx/>
              <a:buChar char="•"/>
            </a:pPr>
            <a:r>
              <a:rPr lang="en-US" sz="20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</a:t>
            </a:r>
            <a:r>
              <a:rPr lang="en-US" sz="2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problem </a:t>
            </a:r>
            <a:r>
              <a:rPr lang="en-US" sz="2400" dirty="0" smtClean="0">
                <a:latin typeface="Times New Roman" pitchFamily="18" charset="0"/>
                <a:ea typeface="Georgia" pitchFamily="34" charset="-122"/>
                <a:cs typeface="Times New Roman" pitchFamily="18" charset="0"/>
              </a:rPr>
              <a:t>matters: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Leads to congestion and delays affects safety and efficiency</a:t>
            </a:r>
          </a:p>
          <a:p>
            <a:pPr marL="342900" indent="-342900">
              <a:spcAft>
                <a:spcPts val="1800"/>
              </a:spcAft>
              <a:buSzPct val="100000"/>
              <a:buFontTx/>
              <a:buChar char="•"/>
            </a:pP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0" y="3566160"/>
            <a:ext cx="1188720" cy="118872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3383280"/>
            <a:ext cx="822960" cy="82296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731520" cy="73152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"/>
            <a:ext cx="594360" cy="5943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5: METHODS / APPROACH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Sensor-based detection using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Arduino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1200"/>
              </a:spcAft>
              <a:buSzPct val="100000"/>
              <a:buFontTx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CAD modelling for system structure</a:t>
            </a:r>
          </a:p>
        </p:txBody>
      </p:sp>
      <p:sp>
        <p:nvSpPr>
          <p:cNvPr id="8" name="Shape 6"/>
          <p:cNvSpPr/>
          <p:nvPr/>
        </p:nvSpPr>
        <p:spPr>
          <a:xfrm>
            <a:off x="7589520" y="3566160"/>
            <a:ext cx="1188720" cy="118872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3383280"/>
            <a:ext cx="822960" cy="82296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</p:spTree>
  </p:cSld>
  <p:clrMapOvr>
    <a:masterClrMapping/>
  </p:clrMapOvr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731520" cy="73152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"/>
            <a:ext cx="594360" cy="5943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572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6: RESULTS / DEMONSTRATION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4206240" cy="146304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99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Arduino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Photo/video of the working circuit or sensor readings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325880"/>
            <a:ext cx="4206240" cy="1463040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 w="12700">
            <a:solidFill>
              <a:srgbClr val="8B2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9903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Development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Screenshot of the web application or interface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606040" y="2999232"/>
            <a:ext cx="4206240" cy="146304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1592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 with SolidWorks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479292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view (orthographic or isometric) of your model</a:t>
            </a:r>
            <a:endParaRPr lang="en-US" sz="1300" dirty="0"/>
          </a:p>
        </p:txBody>
      </p:sp>
      <p:pic>
        <p:nvPicPr>
          <p:cNvPr id="19" name="ardruino.mp4">
            <a:hlinkClick r:id="" action="ppaction://media"/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274320" y="1325880"/>
            <a:ext cx="4206240" cy="1463040"/>
          </a:xfrm>
          <a:prstGeom prst="rect">
            <a:avLst/>
          </a:prstGeom>
        </p:spPr>
      </p:pic>
      <p:pic>
        <p:nvPicPr>
          <p:cNvPr id="20" name="Picture 19" descr="Screenshot 2026-03-31 0128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58" y="1325880"/>
            <a:ext cx="4206240" cy="1463040"/>
          </a:xfrm>
          <a:prstGeom prst="rect">
            <a:avLst/>
          </a:prstGeom>
        </p:spPr>
      </p:pic>
      <p:pic>
        <p:nvPicPr>
          <p:cNvPr id="21" name="Picture 20" descr="WhatsApp Image 2026-03-31 at 01.41.25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2999232"/>
            <a:ext cx="4206238" cy="1463040"/>
          </a:xfrm>
          <a:prstGeom prst="rect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3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video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8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731520" cy="73152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"/>
            <a:ext cx="594360" cy="5943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7: DISCUSSION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365760" cy="36576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85384"/>
            <a:ext cx="228600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 </a:t>
            </a:r>
            <a:r>
              <a:rPr lang="en-US" sz="15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</a:t>
            </a:r>
            <a:r>
              <a:rPr lang="en-GB" sz="1600" dirty="0" smtClean="0">
                <a:solidFill>
                  <a:schemeClr val="bg1"/>
                </a:solidFill>
              </a:rPr>
              <a:t> </a:t>
            </a:r>
            <a:r>
              <a:rPr lang="en-GB" sz="1600" dirty="0" smtClean="0"/>
              <a:t>?: </a:t>
            </a:r>
            <a:r>
              <a:rPr lang="en-GB" sz="1600" dirty="0" smtClean="0">
                <a:latin typeface="Times New Roman" pitchFamily="18" charset="0"/>
                <a:cs typeface="Times New Roman" pitchFamily="18" charset="0"/>
              </a:rPr>
              <a:t>System performed as expected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0" y="2103120"/>
            <a:ext cx="365760" cy="36576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834575"/>
            <a:ext cx="2286000" cy="899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challenges </a:t>
            </a:r>
            <a:r>
              <a:rPr lang="en-US" sz="15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encountered:</a:t>
            </a:r>
            <a:r>
              <a:rPr lang="en-GB" sz="1600" dirty="0" smtClean="0">
                <a:solidFill>
                  <a:schemeClr val="bg1"/>
                </a:solidFill>
              </a:rPr>
              <a:t> </a:t>
            </a:r>
            <a:r>
              <a:rPr lang="en-GB" sz="1600" dirty="0" smtClean="0"/>
              <a:t>Minor calibration improvements possible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2103120"/>
            <a:ext cx="365760" cy="36576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34575"/>
            <a:ext cx="2286000" cy="11492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your project could be </a:t>
            </a:r>
            <a:r>
              <a:rPr lang="en-US" sz="15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improved:</a:t>
            </a:r>
            <a:r>
              <a:rPr lang="en-GB" sz="1600" dirty="0" smtClean="0"/>
              <a:t>Future testing will refine accuracy</a:t>
            </a:r>
          </a:p>
          <a:p>
            <a:pPr marL="0" indent="0"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3566160"/>
            <a:ext cx="1188720" cy="118872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3383280"/>
            <a:ext cx="822960" cy="82296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731520" cy="73152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"/>
            <a:ext cx="594360" cy="5943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8: RECOMMENDATIONS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- Recommendations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: Add mobile app integration</a:t>
            </a:r>
          </a:p>
          <a:p>
            <a:pPr marL="342900" indent="-342900">
              <a:spcAft>
                <a:spcPts val="1000"/>
              </a:spcAft>
              <a:buSzPct val="100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- How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it could be useful in real CE setting: Enable GPS tracking</a:t>
            </a:r>
          </a:p>
          <a:p>
            <a:pPr marL="342900" indent="-342900">
              <a:spcAft>
                <a:spcPts val="1000"/>
              </a:spcAft>
              <a:buSzPct val="100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Use AI for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prediction.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spcAft>
                <a:spcPts val="1000"/>
              </a:spcAft>
              <a:buSzPct val="100000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Improves safety and navigation</a:t>
            </a:r>
          </a:p>
          <a:p>
            <a:pPr marL="342900" indent="-342900">
              <a:spcAft>
                <a:spcPts val="1000"/>
              </a:spcAft>
              <a:buSzPct val="100000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" y="3749040"/>
            <a:ext cx="731520" cy="731520"/>
          </a:xfrm>
          <a:prstGeom prst="ellipse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3566160"/>
            <a:ext cx="1188720" cy="118872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3383280"/>
            <a:ext cx="822960" cy="82296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91440"/>
            <a:ext cx="548640" cy="548640"/>
          </a:xfrm>
          <a:prstGeom prst="ellipse">
            <a:avLst/>
          </a:prstGeom>
          <a:solidFill>
            <a:srgbClr val="F4B8A8"/>
          </a:solidFill>
          <a:ln w="12700">
            <a:solidFill>
              <a:srgbClr val="F4B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502920" cy="50292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5720"/>
            <a:ext cx="731520" cy="73152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274320"/>
            <a:ext cx="594360" cy="594360"/>
          </a:xfrm>
          <a:prstGeom prst="ellipse">
            <a:avLst/>
          </a:prstGeom>
          <a:ln w="76200">
            <a:solidFill>
              <a:srgbClr val="5555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9: REFERENCES (IF ANY)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FontTx/>
              <a:buChar char="-"/>
              <a:defRPr sz="2000"/>
            </a:pPr>
            <a:r>
              <a:rPr lang="en-GB" dirty="0" smtClean="0"/>
              <a:t> </a:t>
            </a:r>
            <a:r>
              <a:rPr lang="en-GB" dirty="0" err="1" smtClean="0"/>
              <a:t>Arduino</a:t>
            </a:r>
            <a:r>
              <a:rPr lang="en-GB" dirty="0" smtClean="0"/>
              <a:t> Docs</a:t>
            </a:r>
          </a:p>
          <a:p>
            <a:pPr>
              <a:buFontTx/>
              <a:buChar char="-"/>
              <a:defRPr sz="2000"/>
            </a:pPr>
            <a:r>
              <a:rPr lang="en-GB" dirty="0" smtClean="0"/>
              <a:t> Web Dev Resources</a:t>
            </a:r>
          </a:p>
          <a:p>
            <a:pPr>
              <a:buFontTx/>
              <a:buChar char="-"/>
              <a:defRPr sz="2000"/>
            </a:pPr>
            <a:r>
              <a:rPr lang="en-GB" dirty="0" smtClean="0"/>
              <a:t> CAD Tutorials</a:t>
            </a:r>
            <a:endParaRPr lang="en-GB" dirty="0"/>
          </a:p>
        </p:txBody>
      </p:sp>
      <p:sp>
        <p:nvSpPr>
          <p:cNvPr id="8" name="Shape 6"/>
          <p:cNvSpPr/>
          <p:nvPr/>
        </p:nvSpPr>
        <p:spPr>
          <a:xfrm>
            <a:off x="7589520" y="3566160"/>
            <a:ext cx="1188720" cy="1188720"/>
          </a:xfrm>
          <a:prstGeom prst="ellipse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138160" y="3383280"/>
            <a:ext cx="822960" cy="822960"/>
          </a:xfrm>
          <a:prstGeom prst="ellipse">
            <a:avLst/>
          </a:prstGeom>
          <a:ln w="76200">
            <a:solidFill>
              <a:srgbClr val="8B2020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0"/>
            <a:ext cx="914400" cy="1005840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274320"/>
            <a:ext cx="640080" cy="640080"/>
          </a:xfrm>
          <a:prstGeom prst="ellipse">
            <a:avLst/>
          </a:prstGeom>
          <a:solidFill>
            <a:srgbClr val="D4874A"/>
          </a:solidFill>
          <a:ln w="12700">
            <a:solidFill>
              <a:srgbClr val="D487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73152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1371600" y="2011680"/>
            <a:ext cx="6400800" cy="36576"/>
          </a:xfrm>
          <a:prstGeom prst="rect">
            <a:avLst/>
          </a:prstGeom>
          <a:solidFill>
            <a:srgbClr val="8B2020"/>
          </a:solidFill>
          <a:ln w="12700">
            <a:solidFill>
              <a:srgbClr val="8B2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194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</a:t>
            </a:r>
            <a:r>
              <a:rPr lang="en-US" sz="2200" dirty="0" smtClean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599" y="2743200"/>
            <a:ext cx="6636619" cy="219456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solidFill>
              <a:srgbClr val="C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[ Group illustration ]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1371599" y="2743200"/>
            <a:ext cx="6636619" cy="2194560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321</Words>
  <Application>Microsoft Office PowerPoint</Application>
  <PresentationFormat>On-screen Show (16:9)</PresentationFormat>
  <Paragraphs>77</Paragraphs>
  <Slides>12</Slides>
  <Notes>12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Project Template</dc:title>
  <dc:subject>PptxGenJS Presentation</dc:subject>
  <dc:creator>PptxGenJS</dc:creator>
  <cp:lastModifiedBy>admin</cp:lastModifiedBy>
  <cp:revision>19</cp:revision>
  <dcterms:created xsi:type="dcterms:W3CDTF">2026-03-30T20:56:45Z</dcterms:created>
  <dcterms:modified xsi:type="dcterms:W3CDTF">2026-03-31T01:50:30Z</dcterms:modified>
</cp:coreProperties>
</file>